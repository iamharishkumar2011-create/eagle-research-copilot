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9" r:id="rId2"/>
    <p:sldId id="300" r:id="rId3"/>
    <p:sldId id="305" r:id="rId4"/>
    <p:sldId id="306" r:id="rId5"/>
    <p:sldId id="307" r:id="rId6"/>
    <p:sldId id="30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550" userDrawn="1">
          <p15:clr>
            <a:srgbClr val="A4A3A4"/>
          </p15:clr>
        </p15:guide>
        <p15:guide id="3" pos="50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2E3"/>
    <a:srgbClr val="4A95BB"/>
    <a:srgbClr val="C6E0EF"/>
    <a:srgbClr val="0E6F99"/>
    <a:srgbClr val="33B5EC"/>
    <a:srgbClr val="6D8085"/>
    <a:srgbClr val="6E8085"/>
    <a:srgbClr val="9CF4FD"/>
    <a:srgbClr val="D3EFFC"/>
    <a:srgbClr val="34B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4"/>
    <p:restoredTop sz="96110"/>
  </p:normalViewPr>
  <p:slideViewPr>
    <p:cSldViewPr snapToGrid="0">
      <p:cViewPr varScale="1">
        <p:scale>
          <a:sx n="109" d="100"/>
          <a:sy n="109" d="100"/>
        </p:scale>
        <p:origin x="200" y="328"/>
      </p:cViewPr>
      <p:guideLst>
        <p:guide pos="279"/>
        <p:guide orient="horz" pos="550"/>
        <p:guide pos="5019"/>
      </p:guideLst>
    </p:cSldViewPr>
  </p:slideViewPr>
  <p:outlineViewPr>
    <p:cViewPr>
      <p:scale>
        <a:sx n="33" d="100"/>
        <a:sy n="33" d="100"/>
      </p:scale>
      <p:origin x="0" y="-126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4" d="100"/>
          <a:sy n="114" d="100"/>
        </p:scale>
        <p:origin x="403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9B5E1-1DBA-9A4B-9CE7-F3ACDFCB49C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C8307-CFDE-E34E-91FF-E43F75D9B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7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19CDA6B-10E2-E20F-C397-E050A52F6F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6349"/>
            <a:ext cx="12203959" cy="6852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2930CE84-EC15-A594-7AA9-8064D7C5D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7606" y="1678467"/>
            <a:ext cx="6909881" cy="1096295"/>
          </a:xfrm>
          <a:prstGeom prst="rect">
            <a:avLst/>
          </a:prstGeom>
        </p:spPr>
        <p:txBody>
          <a:bodyPr anchor="b"/>
          <a:lstStyle>
            <a:lvl1pPr algn="ctr">
              <a:defRPr sz="5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3F676792-BE55-8F1D-FEC4-279B82055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7607" y="3019313"/>
            <a:ext cx="6909881" cy="7401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rgbClr val="64BC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0794A-9AAA-10CB-4079-5772CEBCB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948" y="4509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430A1A57-179D-9240-B47B-55D9B00F9D7B}" type="datetime1">
              <a:rPr lang="en-IN" smtClean="0"/>
              <a:pPr algn="ctr"/>
              <a:t>14/04/26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D32E4-D7AE-04A1-28D5-57621748ED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pic>
        <p:nvPicPr>
          <p:cNvPr id="7" name="Picture 6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1B871470-BC2A-D734-C65B-B327DD68B1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21818" y="441457"/>
            <a:ext cx="1071570" cy="1036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AF07C3-8EA5-D18D-74B1-9060BA2558A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3993" y="410768"/>
            <a:ext cx="701106" cy="647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73C38E-3225-F280-03A5-6BD6C986EF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9051" y="384325"/>
            <a:ext cx="514885" cy="70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1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94F94B-39A5-5B3B-F97B-9B6C6E7DE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C640A1D-6AAF-BC4F-05FE-CDF396EC87B2}"/>
              </a:ext>
            </a:extLst>
          </p:cNvPr>
          <p:cNvSpPr/>
          <p:nvPr userDrawn="1"/>
        </p:nvSpPr>
        <p:spPr>
          <a:xfrm>
            <a:off x="838200" y="665796"/>
            <a:ext cx="6568957" cy="5450296"/>
          </a:xfrm>
          <a:prstGeom prst="rect">
            <a:avLst/>
          </a:prstGeom>
          <a:solidFill>
            <a:srgbClr val="0338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B11290C-E63B-1682-D6A9-2726B3BE9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87" y="2562582"/>
            <a:ext cx="5623818" cy="1393270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64BC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B8FEDEE-FDA3-3805-50CB-CAF6E396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287" y="4013534"/>
            <a:ext cx="5623818" cy="13218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6638-BEC8-4518-53D8-4C9536D91D61}"/>
              </a:ext>
            </a:extLst>
          </p:cNvPr>
          <p:cNvSpPr txBox="1"/>
          <p:nvPr userDrawn="1"/>
        </p:nvSpPr>
        <p:spPr>
          <a:xfrm>
            <a:off x="14173200" y="22456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8339B-F088-B4B4-C555-FBA8F2C845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036" t="-37040" r="34434" b="-1"/>
          <a:stretch/>
        </p:blipFill>
        <p:spPr>
          <a:xfrm>
            <a:off x="838200" y="5887491"/>
            <a:ext cx="6568957" cy="228601"/>
          </a:xfrm>
          <a:prstGeom prst="rect">
            <a:avLst/>
          </a:prstGeom>
        </p:spPr>
      </p:pic>
      <p:pic>
        <p:nvPicPr>
          <p:cNvPr id="6" name="Picture 5" descr="A black and white sign with white text  AI-generated content may be incorrect.">
            <a:extLst>
              <a:ext uri="{FF2B5EF4-FFF2-40B4-BE49-F238E27FC236}">
                <a16:creationId xmlns:a16="http://schemas.microsoft.com/office/drawing/2014/main" id="{0ACD3FAB-9851-7225-F2F2-1DEA4AD6EB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4599" y="1097971"/>
            <a:ext cx="846816" cy="8188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AAD783-6F36-6670-3F35-F7D2DF7F15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26042" y="1097971"/>
            <a:ext cx="506064" cy="467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2886D-41D2-9AA4-E797-FED8215C69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050280" y="1059798"/>
            <a:ext cx="371647" cy="5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2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C640A1D-6AAF-BC4F-05FE-CDF396EC87B2}"/>
              </a:ext>
            </a:extLst>
          </p:cNvPr>
          <p:cNvSpPr/>
          <p:nvPr userDrawn="1"/>
        </p:nvSpPr>
        <p:spPr>
          <a:xfrm>
            <a:off x="-1200" y="-1"/>
            <a:ext cx="12193200" cy="6858001"/>
          </a:xfrm>
          <a:prstGeom prst="rect">
            <a:avLst/>
          </a:prstGeom>
          <a:solidFill>
            <a:srgbClr val="0338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B11290C-E63B-1682-D6A9-2726B3BE9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2400" y="2420889"/>
            <a:ext cx="5623818" cy="1008112"/>
          </a:xfrm>
          <a:prstGeom prst="rect">
            <a:avLst/>
          </a:prstGeom>
        </p:spPr>
        <p:txBody>
          <a:bodyPr anchor="t"/>
          <a:lstStyle>
            <a:lvl1pPr algn="ctr">
              <a:defRPr sz="5400" b="1" i="0">
                <a:solidFill>
                  <a:srgbClr val="64BC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B8FEDEE-FDA3-3805-50CB-CAF6E396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2400" y="3573016"/>
            <a:ext cx="5623818" cy="7401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6638-BEC8-4518-53D8-4C9536D91D61}"/>
              </a:ext>
            </a:extLst>
          </p:cNvPr>
          <p:cNvSpPr txBox="1"/>
          <p:nvPr userDrawn="1"/>
        </p:nvSpPr>
        <p:spPr>
          <a:xfrm>
            <a:off x="14173200" y="22456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DA039-F3D2-4F98-279F-ECF26E3063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88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268B6-9140-D872-BE64-432BE74C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396519"/>
            <a:ext cx="10801200" cy="4910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144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6B7E7"/>
              </a:buClr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1206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9B7E8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184B0A2-1F68-6777-7A70-9112822E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6585" y="6453336"/>
            <a:ext cx="872318" cy="228601"/>
          </a:xfrm>
        </p:spPr>
        <p:txBody>
          <a:bodyPr/>
          <a:lstStyle>
            <a:lvl1pPr>
              <a:defRPr sz="900">
                <a:solidFill>
                  <a:srgbClr val="293D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E7A504-520E-9641-A79A-A09DA47E667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9DEC5-7ACB-019B-EF40-EBFF62575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4C6C29-29F6-949F-0E89-256B330252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0847" y="140486"/>
            <a:ext cx="872097" cy="8474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4F70D9-A38E-7371-90AB-3DFE8A31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6" y="561980"/>
            <a:ext cx="10738963" cy="49753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338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54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604805-23AE-2274-7C46-FCC3C18E22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8161" y="1380305"/>
            <a:ext cx="3169567" cy="2257133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F3E4D1-DB40-85B5-0EE1-52F1CFD62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161" y="3780399"/>
            <a:ext cx="3169567" cy="2935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59" name="Picture Placeholder 4">
            <a:extLst>
              <a:ext uri="{FF2B5EF4-FFF2-40B4-BE49-F238E27FC236}">
                <a16:creationId xmlns:a16="http://schemas.microsoft.com/office/drawing/2014/main" id="{B866662D-8AD8-B6F2-3C8F-F44052E775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2577" y="1380305"/>
            <a:ext cx="3169567" cy="2257133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4C021031-CE5D-0426-6D42-58F5E1A03F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4222577" y="3780399"/>
            <a:ext cx="3169567" cy="293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1C6C991C-0831-EBC3-9183-52A0570D64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66993" y="1380305"/>
            <a:ext cx="3169567" cy="2257133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D6604900-11DA-D454-B927-2CCE2487A4C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7987" y="3780399"/>
            <a:ext cx="3169567" cy="2935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9B79A218-22AA-DCCE-6208-D93C5C756C11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78161" y="4325821"/>
            <a:ext cx="3169567" cy="195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34C651C3-AD3F-F26F-5C5E-F656C872B6E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222577" y="4325143"/>
            <a:ext cx="3169567" cy="19562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0E2337BC-17BE-CB2D-C1C3-B9B7F9ACE3DB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7967987" y="4325143"/>
            <a:ext cx="3194719" cy="19562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65B2F34B-458B-758C-E6F6-BD7DCED8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6585" y="6453336"/>
            <a:ext cx="872318" cy="228601"/>
          </a:xfrm>
        </p:spPr>
        <p:txBody>
          <a:bodyPr/>
          <a:lstStyle>
            <a:lvl1pPr>
              <a:defRPr sz="900">
                <a:solidFill>
                  <a:srgbClr val="293D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E7A504-520E-9641-A79A-A09DA47E667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3931D1-CE58-577E-0D01-CF78BA639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1DAB8DE-9E9B-6D8A-7C26-1EB8C6A6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6" y="561980"/>
            <a:ext cx="10738963" cy="497537"/>
          </a:xfrm>
          <a:prstGeom prst="rect">
            <a:avLst/>
          </a:prstGeom>
        </p:spPr>
        <p:txBody>
          <a:bodyPr/>
          <a:lstStyle>
            <a:lvl1pPr>
              <a:defRPr sz="3600" b="1" i="0">
                <a:solidFill>
                  <a:srgbClr val="0338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621A4B-76BC-3F8F-AAD5-8A115642D7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0847" y="140486"/>
            <a:ext cx="872097" cy="84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9B79A218-22AA-DCCE-6208-D93C5C756C11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35360" y="3931988"/>
            <a:ext cx="3169567" cy="230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26C12FD-0C96-8450-09FF-1DD7E603F306}"/>
              </a:ext>
            </a:extLst>
          </p:cNvPr>
          <p:cNvSpPr txBox="1">
            <a:spLocks/>
          </p:cNvSpPr>
          <p:nvPr userDrawn="1"/>
        </p:nvSpPr>
        <p:spPr>
          <a:xfrm>
            <a:off x="11086585" y="6453336"/>
            <a:ext cx="872318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293D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E7A504-520E-9641-A79A-A09DA47E66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E0DE345-E492-128B-E400-D2090C8B5B23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154259" y="3931988"/>
            <a:ext cx="3169567" cy="230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6C1F675-1DA8-C722-D54F-9D02906B53E4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7966993" y="3931988"/>
            <a:ext cx="3169567" cy="230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528F843C-4078-8DE2-2909-8ACBF0F2CD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145" y="1380305"/>
            <a:ext cx="3169567" cy="240873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15D6D5CD-EA95-46E7-6C44-A790D1DB1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50569" y="1380305"/>
            <a:ext cx="3169567" cy="240873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CFF69BB-7F76-AA44-5AE4-6E62CDF6FA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66993" y="1380305"/>
            <a:ext cx="3169567" cy="240873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47AEA2-0D47-CE66-23B1-C93A8F0597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4B003DF7-F26D-8071-39CD-6A23E866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6" y="561980"/>
            <a:ext cx="10738963" cy="49753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338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B0B253-A057-6E89-496D-D783E88A92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0847" y="140486"/>
            <a:ext cx="872097" cy="84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8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304B451B-9632-9503-A020-084CB4332BCF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9536" y="1419424"/>
            <a:ext cx="3954167" cy="380977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Chart Placeholder 3">
            <a:extLst>
              <a:ext uri="{FF2B5EF4-FFF2-40B4-BE49-F238E27FC236}">
                <a16:creationId xmlns:a16="http://schemas.microsoft.com/office/drawing/2014/main" id="{E192460F-4257-A7E4-5787-675E0A621BB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32773" y="1419424"/>
            <a:ext cx="3975726" cy="380977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C9BAF6-5500-69DC-5A04-D1E8127FEE08}"/>
              </a:ext>
            </a:extLst>
          </p:cNvPr>
          <p:cNvSpPr txBox="1">
            <a:spLocks/>
          </p:cNvSpPr>
          <p:nvPr userDrawn="1"/>
        </p:nvSpPr>
        <p:spPr>
          <a:xfrm>
            <a:off x="11086585" y="6453336"/>
            <a:ext cx="872318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293D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E7A504-520E-9641-A79A-A09DA47E66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1DAD2E-63BF-C45A-DA28-BA61283FB6B5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34145" y="5438577"/>
            <a:ext cx="3989558" cy="870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E5FF6D-1E09-BB0B-35C8-33BEF1D88B3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7121444" y="5438577"/>
            <a:ext cx="3989558" cy="870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8F9131-39CA-14D9-73CE-89ADAB0ED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A3D5E0B-DC4F-14FF-55E8-9A2188FA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6" y="561980"/>
            <a:ext cx="10738963" cy="49753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338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F73B0-8343-8C38-87B0-EC5063A400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80847" y="140486"/>
            <a:ext cx="872097" cy="84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6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8D011C-1D4A-5D13-163C-70753DF57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765" b="7765"/>
          <a:stretch/>
        </p:blipFill>
        <p:spPr>
          <a:xfrm>
            <a:off x="0" y="0"/>
            <a:ext cx="12190592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C640A1D-6AAF-BC4F-05FE-CDF396EC87B2}"/>
              </a:ext>
            </a:extLst>
          </p:cNvPr>
          <p:cNvSpPr/>
          <p:nvPr userDrawn="1"/>
        </p:nvSpPr>
        <p:spPr>
          <a:xfrm>
            <a:off x="6959600" y="850108"/>
            <a:ext cx="4647224" cy="5157784"/>
          </a:xfrm>
          <a:prstGeom prst="rect">
            <a:avLst/>
          </a:prstGeom>
          <a:solidFill>
            <a:srgbClr val="0338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B11290C-E63B-1682-D6A9-2726B3BE9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3" y="1370751"/>
            <a:ext cx="3758560" cy="1393270"/>
          </a:xfrm>
          <a:prstGeom prst="rect">
            <a:avLst/>
          </a:prstGeom>
        </p:spPr>
        <p:txBody>
          <a:bodyPr anchor="t"/>
          <a:lstStyle>
            <a:lvl1pPr algn="l">
              <a:defRPr sz="5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B8FEDEE-FDA3-3805-50CB-CAF6E396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3213" y="3774514"/>
            <a:ext cx="3758560" cy="13218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416638-BEC8-4518-53D8-4C9536D91D61}"/>
              </a:ext>
            </a:extLst>
          </p:cNvPr>
          <p:cNvSpPr txBox="1"/>
          <p:nvPr userDrawn="1"/>
        </p:nvSpPr>
        <p:spPr>
          <a:xfrm>
            <a:off x="9922934" y="1912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8339B-F088-B4B4-C555-FBA8F2C845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268" t="-69580" r="50338" b="-1"/>
          <a:stretch/>
        </p:blipFill>
        <p:spPr>
          <a:xfrm>
            <a:off x="6959600" y="5724117"/>
            <a:ext cx="4647224" cy="28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27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E415F0-5B05-3C45-AF5C-65C841494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6349"/>
            <a:ext cx="12203959" cy="685201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F923859-0144-03F9-D471-2B7BDC92B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415" y="2688821"/>
            <a:ext cx="7439612" cy="124423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16662D-0FC1-8410-32FD-F0C8201CB9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88" t="-11480" r="7385" b="3359"/>
          <a:stretch/>
        </p:blipFill>
        <p:spPr>
          <a:xfrm>
            <a:off x="1" y="6669908"/>
            <a:ext cx="12191998" cy="1895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A19405-84A3-9169-35BF-A0B9B1468E4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593900" y="413901"/>
            <a:ext cx="1115836" cy="107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18022F-9E2D-A234-8CEE-EB5BF4766CB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08630" y="5770299"/>
            <a:ext cx="701106" cy="647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3DAE2D-82FD-3123-672A-8753295024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323688" y="5743856"/>
            <a:ext cx="514885" cy="70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CA3A-E9D4-26AA-4DAB-5DBDCFF7E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0212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293D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0A1A57-179D-9240-B47B-55D9B00F9D7B}" type="datetime1">
              <a:rPr lang="en-IN" smtClean="0"/>
              <a:pPr/>
              <a:t>14/04/26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E7B5-1279-901D-EFAD-32ACE61C0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0212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93D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0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702" r:id="rId2"/>
    <p:sldLayoutId id="2147483708" r:id="rId3"/>
    <p:sldLayoutId id="2147483678" r:id="rId4"/>
    <p:sldLayoutId id="2147483707" r:id="rId5"/>
    <p:sldLayoutId id="2147483709" r:id="rId6"/>
    <p:sldLayoutId id="2147483689" r:id="rId7"/>
    <p:sldLayoutId id="2147483710" r:id="rId8"/>
    <p:sldLayoutId id="2147483701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A4F9DA-3964-501C-62EB-A57C0B21E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060" y="1315864"/>
            <a:ext cx="6909881" cy="2248423"/>
          </a:xfrm>
        </p:spPr>
        <p:txBody>
          <a:bodyPr/>
          <a:lstStyle/>
          <a:p>
            <a:r>
              <a:rPr lang="en-IN" b="1" dirty="0"/>
              <a:t>Strategy Meet 2026</a:t>
            </a:r>
            <a:br>
              <a:rPr lang="en-IN" b="1" dirty="0"/>
            </a:br>
            <a:r>
              <a:rPr lang="en-IN" b="1" dirty="0"/>
              <a:t>Research Domain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4E173466-24C5-B02A-359C-EEA0081CE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060" y="3642481"/>
            <a:ext cx="6909881" cy="740179"/>
          </a:xfrm>
        </p:spPr>
        <p:txBody>
          <a:bodyPr/>
          <a:lstStyle/>
          <a:p>
            <a:r>
              <a:rPr lang="en-US" dirty="0"/>
              <a:t>Achievements, Strategic Initiatives &amp; Future Roadmap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28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213BE8-F358-5A61-9B36-D7456224C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600" b="1" dirty="0"/>
              <a:t>Intellectual Contributions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34 journal articles (14 ABDC-A, 4 ABDC-B) | 5 books/chapters | 3 case studies | 60 business press articles</a:t>
            </a:r>
          </a:p>
          <a:p>
            <a:pPr marL="628650" lvl="1" indent="-176213">
              <a:spcAft>
                <a:spcPts val="400"/>
              </a:spcAft>
            </a:pPr>
            <a:r>
              <a:rPr lang="en-US" sz="1600" dirty="0"/>
              <a:t>Total output: 102 contributions | Consistent quality: 53% ABDC A-rated journals as compared to 42% last year.    </a:t>
            </a:r>
          </a:p>
          <a:p>
            <a:pPr>
              <a:spcAft>
                <a:spcPts val="200"/>
              </a:spcAft>
            </a:pPr>
            <a:r>
              <a:rPr lang="en-US" sz="1600" b="1" dirty="0"/>
              <a:t>Faculty Engagement &amp; Visibility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44 conference participations (PY n = 30) | 15 faculty (last year = 9) | 12 panel speaker roles | 7 track chairs.</a:t>
            </a:r>
            <a:r>
              <a:rPr lang="en-US" sz="1600" b="1" dirty="0"/>
              <a:t>  </a:t>
            </a:r>
          </a:p>
          <a:p>
            <a:pPr marL="628650" lvl="1" indent="-176213">
              <a:spcAft>
                <a:spcPts val="400"/>
              </a:spcAft>
            </a:pPr>
            <a:r>
              <a:rPr lang="en-US" sz="1600" dirty="0"/>
              <a:t>Key events: UN COP 16, EURO 2025 Leeds, IIM/MDI</a:t>
            </a:r>
          </a:p>
          <a:p>
            <a:pPr>
              <a:spcAft>
                <a:spcPts val="200"/>
              </a:spcAft>
            </a:pPr>
            <a:r>
              <a:rPr lang="en-US" sz="1600" b="1" dirty="0"/>
              <a:t>Discovery Dialogues &amp; R&amp;D Workshops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International speaker series with growing engagement; R&amp;D workshops for TA’s</a:t>
            </a:r>
          </a:p>
          <a:p>
            <a:pPr>
              <a:spcAft>
                <a:spcPts val="200"/>
              </a:spcAft>
            </a:pPr>
            <a:r>
              <a:rPr lang="en-US" sz="1600" b="1" dirty="0"/>
              <a:t>New Policies/Initiatives Introduced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Institutional Review Board (IRB) established for ethical research governance</a:t>
            </a:r>
          </a:p>
          <a:p>
            <a:pPr marL="628650" lvl="1" indent="-176213"/>
            <a:r>
              <a:rPr lang="en-US" sz="1600" dirty="0"/>
              <a:t>Research Assistant (RA) Policy launched to support faculty research productivity</a:t>
            </a:r>
          </a:p>
          <a:p>
            <a:pPr marL="628650" lvl="1" indent="-176213"/>
            <a:r>
              <a:rPr lang="en-US" sz="1600" dirty="0"/>
              <a:t>Faculty research seminars started. 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80460CC-DF1B-F022-CE09-89ECB32E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Achievements &amp;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3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213BE8-F358-5A61-9B36-D7456224C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600" b="1" dirty="0"/>
              <a:t>AI Agents for Research (In Active Development)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b="1" dirty="0"/>
              <a:t>Synthetic Data Agent</a:t>
            </a:r>
            <a:r>
              <a:rPr lang="en-US" sz="1600" dirty="0"/>
              <a:t> – Generates high-fidelity synthetic datasets where real data is scarce - Automates thematic coding, sentiment analysis &amp; pattern recognition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b="1"/>
              <a:t>WOLF </a:t>
            </a:r>
            <a:r>
              <a:rPr lang="en-US" sz="1600"/>
              <a:t>– </a:t>
            </a:r>
            <a:r>
              <a:rPr lang="en-US" sz="1600" dirty="0"/>
              <a:t>Systematic literature search, gap identification &amp; citation mapping, Intelligent survey design with adaptive questioning &amp; validity checks</a:t>
            </a:r>
          </a:p>
          <a:p>
            <a:pPr>
              <a:spcAft>
                <a:spcPts val="200"/>
              </a:spcAft>
            </a:pPr>
            <a:r>
              <a:rPr lang="en-US" sz="1600" b="1" dirty="0"/>
              <a:t>Inter-Campus Collaboration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Significant increase in joint research within GLIM Gurgaon and with Chennai Campus – shared publications &amp; co-supervised projects</a:t>
            </a:r>
          </a:p>
          <a:p>
            <a:pPr marL="628650" lvl="1" indent="-176213">
              <a:spcAft>
                <a:spcPts val="400"/>
              </a:spcAft>
            </a:pPr>
            <a:r>
              <a:rPr lang="en-US" sz="1600" dirty="0"/>
              <a:t>Coordinated conference participation and faculty exchange programs</a:t>
            </a:r>
          </a:p>
          <a:p>
            <a:pPr>
              <a:spcAft>
                <a:spcPts val="200"/>
              </a:spcAft>
            </a:pPr>
            <a:r>
              <a:rPr lang="en-US" sz="1600" b="1" dirty="0"/>
              <a:t>Future Roadmap (2026–2027)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Scale AI agent deployment across research domains; pilot with select faculty cohorts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Target 40%+ international co-authored publications (up from 30%)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Expand dedicated research labs (</a:t>
            </a:r>
          </a:p>
          <a:p>
            <a:pPr marL="628650" lvl="1" indent="-176213">
              <a:spcAft>
                <a:spcPts val="100"/>
              </a:spcAft>
            </a:pPr>
            <a:r>
              <a:rPr lang="en-US" sz="1600" dirty="0"/>
              <a:t>FPM program and Research faculties. 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80460CC-DF1B-F022-CE09-89ECB32E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Strategic Initiatives &amp; Future Roadmap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3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A4F9DA-3964-501C-62EB-A57C0B21E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060" y="1315864"/>
            <a:ext cx="6909881" cy="2248423"/>
          </a:xfrm>
        </p:spPr>
        <p:txBody>
          <a:bodyPr/>
          <a:lstStyle/>
          <a:p>
            <a:r>
              <a:rPr lang="en-IN" b="1" dirty="0"/>
              <a:t>Strategy Meet 2026</a:t>
            </a:r>
            <a:br>
              <a:rPr lang="en-IN" b="1" dirty="0"/>
            </a:br>
            <a:r>
              <a:rPr lang="en-IN" dirty="0"/>
              <a:t>Spatial Reality Lab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4E173466-24C5-B02A-359C-EEA0081CE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060" y="3642481"/>
            <a:ext cx="6909881" cy="740179"/>
          </a:xfrm>
        </p:spPr>
        <p:txBody>
          <a:bodyPr/>
          <a:lstStyle/>
          <a:p>
            <a:r>
              <a:rPr lang="en-US" dirty="0"/>
              <a:t>Achievements, Strategic Initiatives &amp; Future Roadmap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72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213BE8-F358-5A61-9B36-D7456224C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500" b="1" dirty="0"/>
              <a:t>Publications in ABDC A-Rated Journals (3 Papers)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Journal of Retailing and Consumer Services (ABDC-A) — co-authored with School of Business and Economics, Loughborough University, UK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Journal of Business and Industrial Marketing (ABDC-A) — in collaboration with Tokyo International University, Japan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The International Journal of Logistics Management (ABDC-A)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r>
              <a:rPr lang="en-IN" sz="1500" b="1" dirty="0"/>
              <a:t>Experimental Research Conducted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3 controlled experiments executed in the lab across multiple research projects, with active student participation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r>
              <a:rPr lang="en-IN" sz="1500" b="1" dirty="0"/>
              <a:t>Spatial Computing Course – Delivered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Offered an elective course to PGPM students through the lab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r>
              <a:rPr lang="en-IN" sz="1600" b="1" dirty="0"/>
              <a:t>External Researchers Hosted at the Lab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Faculty and research scholars from IMT Ghaziabad, BML Munjal University, IIT (ISM) Dhanbad</a:t>
            </a:r>
          </a:p>
          <a:p>
            <a:endParaRPr lang="en-IN" sz="1600" dirty="0"/>
          </a:p>
          <a:p>
            <a:r>
              <a:rPr lang="en-IN" sz="1600" b="1" dirty="0"/>
              <a:t>Capacity Building &amp; Training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Hosted a dedicated session as part of the ATAL FDP, showcasing immersive research methodologies to faculty from across institutions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endParaRPr lang="en-IN" sz="1500" dirty="0"/>
          </a:p>
          <a:p>
            <a:pPr marL="628650" lvl="1" indent="-176213">
              <a:spcAft>
                <a:spcPts val="100"/>
              </a:spcAft>
            </a:pPr>
            <a:endParaRPr lang="en-IN" sz="1100" dirty="0">
              <a:solidFill>
                <a:srgbClr val="22222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80460CC-DF1B-F022-CE09-89ECB32E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Achievements &amp;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9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505796-EF5A-01AC-E0B9-C41A8D0D7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Roadmap (2026–27)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Strengthens Great Lakes' global research visibility and supports the foreign-collaboration target of 40%+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Scale to 4–5 ABDC-A submissions from XR Lab in the next 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Formalize visiting-scholar program with </a:t>
            </a:r>
            <a:r>
              <a:rPr lang="en-IN" sz="2400" dirty="0" err="1"/>
              <a:t>MoUs</a:t>
            </a:r>
            <a:r>
              <a:rPr lang="en-IN" sz="2400" dirty="0"/>
              <a:t> (Loughborough, Tokyo IU, IIT-ISM)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Integrate XR Lab with the AI Agents initiative — synthetic participant data + qualitative analysis of immersive-environment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8-10 Lakh in funding requirements for updated headgear and a dedicated lab assistant to increase productivity. </a:t>
            </a:r>
            <a:endParaRPr lang="en-IN" sz="2400" dirty="0"/>
          </a:p>
          <a:p>
            <a:pPr>
              <a:spcAft>
                <a:spcPts val="200"/>
              </a:spcAft>
            </a:pPr>
            <a:endParaRPr lang="en-IN" sz="3200" dirty="0">
              <a:solidFill>
                <a:srgbClr val="222222"/>
              </a:solidFill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2663F-5E0F-6ADB-B7C3-04EF973C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7A504-520E-9641-A79A-A09DA47E66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6B0152-731A-9792-8967-5349B7A9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dirty="0"/>
              <a:t>XR Lab: Visibility, Outreach &amp; Strategic Value</a:t>
            </a:r>
            <a:br>
              <a:rPr lang="en-IN" sz="2800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9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Lake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C"/>
      </a:accent1>
      <a:accent2>
        <a:srgbClr val="34B9F0"/>
      </a:accent2>
      <a:accent3>
        <a:srgbClr val="5BC500"/>
      </a:accent3>
      <a:accent4>
        <a:srgbClr val="6D8085"/>
      </a:accent4>
      <a:accent5>
        <a:srgbClr val="D8D8C9"/>
      </a:accent5>
      <a:accent6>
        <a:srgbClr val="D3EFFC"/>
      </a:accent6>
      <a:hlink>
        <a:srgbClr val="6D8082"/>
      </a:hlink>
      <a:folHlink>
        <a:srgbClr val="D3EFF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430369-2B7A-4AA1-9923-CBA9976FA0A8}">
  <we:reference id="22ff87a5-132f-4d52-9e97-94d888e4dd91" version="3.8.0.0" store="EXCatalog" storeType="EXCatalog"/>
  <we:alternateReferences>
    <we:reference id="WA104380050" version="3.8.0.0" store="en-IN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5135</TotalTime>
  <Words>534</Words>
  <Application>Microsoft Macintosh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Strategy Meet 2026 Research Domain</vt:lpstr>
      <vt:lpstr>Achievements &amp; Impact</vt:lpstr>
      <vt:lpstr>Strategic Initiatives &amp; Future Roadmap</vt:lpstr>
      <vt:lpstr>Strategy Meet 2026 Spatial Reality Lab</vt:lpstr>
      <vt:lpstr>Achievements &amp; Impact</vt:lpstr>
      <vt:lpstr>XR Lab: Visibility, Outreach &amp; Strategic Value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Harish Kumar</cp:lastModifiedBy>
  <cp:revision>273</cp:revision>
  <dcterms:created xsi:type="dcterms:W3CDTF">2024-02-21T07:03:43Z</dcterms:created>
  <dcterms:modified xsi:type="dcterms:W3CDTF">2026-04-14T16:31:12Z</dcterms:modified>
</cp:coreProperties>
</file>